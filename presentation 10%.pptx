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72" r:id="rId4"/>
    <p:sldId id="291" r:id="rId5"/>
    <p:sldId id="273" r:id="rId6"/>
    <p:sldId id="275" r:id="rId7"/>
    <p:sldId id="292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9" r:id="rId18"/>
    <p:sldId id="286" r:id="rId19"/>
    <p:sldId id="287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4" userDrawn="1">
          <p15:clr>
            <a:srgbClr val="A4A3A4"/>
          </p15:clr>
        </p15:guide>
        <p15:guide id="2" pos="438" userDrawn="1">
          <p15:clr>
            <a:srgbClr val="A4A3A4"/>
          </p15:clr>
        </p15:guide>
        <p15:guide id="3" pos="72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59" autoAdjust="0"/>
    <p:restoredTop sz="93874"/>
  </p:normalViewPr>
  <p:slideViewPr>
    <p:cSldViewPr snapToGrid="0" showGuides="1">
      <p:cViewPr>
        <p:scale>
          <a:sx n="78" d="100"/>
          <a:sy n="78" d="100"/>
        </p:scale>
        <p:origin x="2560" y="1648"/>
      </p:cViewPr>
      <p:guideLst>
        <p:guide orient="horz" pos="414"/>
        <p:guide pos="438"/>
        <p:guide pos="72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E6D3F-A903-2331-519F-99B0251AB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90D21F-686F-116E-78CF-4035BCD13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692DC-4F0A-4C56-B28B-90E89EA9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BE6F2-F6F6-C816-203E-18461703B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F4CFF-6A42-FBA6-8ACC-99FC25A0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38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44C6B-696D-3974-3AF2-4E654E43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FA67C6-73C1-0ACF-72CE-510CB3CC7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EA7376-3248-2B79-E5D4-7AD729B8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C1EF7E-2B9B-0349-38C9-37BF98D2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E060FE-1941-90CC-7B53-090D541C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1136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F8AFE-4F0D-8052-2E32-86DF5C9F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EDE53-94F1-7DAF-2389-24B167075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71B126-0AE9-E474-F26C-8B73820C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1B609-0F95-991A-742D-831041780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A2B72E-C6F9-B94A-690B-D49D95086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149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9CB233-B157-2FC5-76B8-E47089D94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12B297-B33D-5665-50F0-52A2821AA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D71744-00CC-34F7-8A63-42C4D2E60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37F0A5-BED7-7C5C-5975-165B1E1A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B8E04A-C6E3-F90D-C70E-3D57CB5A8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F532E-E040-639D-A11E-47067323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4591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14D582-9EF9-3F1C-DFD9-E8C0AE0BE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79C0E1-D20F-3C44-005F-958FECC2A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255910-8C96-71E7-C883-B2BA18F0C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8B5994-6990-F706-5D1E-60BEEF0B6F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B31037-8867-41BA-AFE9-8E06A7DFA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A8A22E-2908-B919-054D-CA681647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39128F-C8C6-D66B-70F4-5A47F4A9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C36938-2E16-A849-CA6B-1A9F9FCB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15732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50E93F-C07A-0C90-D966-2213ED8A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791EB58-C471-8A04-92E8-AE879AED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022DF1-6A00-13A1-8864-619808649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53AC59-D0B6-DF1D-C402-04958A56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435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672883-8268-9451-8A6E-D5E4B4E90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22B45A-D7B4-5CF8-BC20-DB2C7A12B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27AB29-DE1D-BACF-88FB-EA10D0956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3174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865B1B-5F52-5DA4-611D-BA2FEB883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7CCC44-BB5E-CCEE-8816-B6D66EEE7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1CE5F3-44C9-1061-202D-0F1EAF862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4FFCCF-ABB8-1D29-78F7-349F8B369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122AA-F2CF-C2F0-7B2B-AAF6E261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742CA6-A8C4-AAF1-43D1-E4BFB8DAE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647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4C7EDE-E492-2FD4-044F-88A6B1F1E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371C56-D23B-7FC9-3F70-BF9D46DFE6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FCBC76-3F8E-0525-5249-2FF48AD951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D968C8-32D0-C71F-2F62-A8F10548C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D2D30-894C-3D19-1156-726F0481B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501C51-0689-14F1-85F6-2AF79F33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399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9D6232-E85B-9DBE-32C9-ADF3AC9C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71D574-04BC-04FD-F48B-275EB62A6A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5CB15D-3E07-45CA-A65A-7C1C681FD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0BF498-F92A-B302-F783-B5ED93FCD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5FF0FB-2DDE-D996-24AE-EB877280D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390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A9DBDF7-2E47-C636-D5D3-4D466DE902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45DA91-F640-8FF6-79CF-23F05D5AC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DEB3BD-A378-6F64-610A-D8C688EDD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3FC794-19A8-0A46-E8AE-E49B0306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9A2408-B8BB-361B-71B6-7F55A287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7357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48A35C-2059-35DE-6A67-FB519D502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F7FB8A-5161-7CE2-6C66-EA0B7269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2685DE-8B9F-E86E-AE6E-BD8F310F41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2C518-F060-AC4D-90A8-52FCE126AC5F}" type="datetimeFigureOut">
              <a:rPr kumimoji="1" lang="zh-CN" altLang="en-US" smtClean="0"/>
              <a:t>2026/5/11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54BCE3-862F-C1E1-5C32-707012EF9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BBF32F-587B-03B6-603C-FFBAD41CAC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814E1A-3551-9C4B-9848-6C166DC876B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106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76ACE19-2444-CAAB-5B68-FF544AD1F468}"/>
              </a:ext>
            </a:extLst>
          </p:cNvPr>
          <p:cNvSpPr txBox="1"/>
          <p:nvPr/>
        </p:nvSpPr>
        <p:spPr>
          <a:xfrm>
            <a:off x="2851652" y="4538680"/>
            <a:ext cx="6103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Sir </a:t>
            </a:r>
            <a:r>
              <a:rPr lang="en-GB" sz="24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Yasar</a:t>
            </a:r>
            <a:r>
              <a:rPr lang="en-GB" sz="24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Khan</a:t>
            </a:r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69665" y="5076589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71685" y="1001313"/>
            <a:ext cx="77206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GB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AI &amp; </a:t>
            </a:r>
            <a:r>
              <a:rPr lang="en-GB" sz="3200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Crop Suitability and Monitoring</a:t>
            </a:r>
            <a:r>
              <a:rPr lang="en-GB" sz="3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3200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br>
              <a:rPr lang="en-GB" sz="32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23637" y="2543647"/>
            <a:ext cx="6759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/>
            <a:r>
              <a:rPr lang="en-GB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Zulkifl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Ahmad            SP23-BCS-047</a:t>
            </a:r>
            <a:b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Aleeza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Javed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SP23-BCS-141</a:t>
            </a:r>
            <a:b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Muneeba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Kalsoom</a:t>
            </a:r>
            <a:r>
              <a:rPr lang="en-GB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SP23-BCS-147</a:t>
            </a:r>
          </a:p>
          <a:p>
            <a:pPr algn="ctr"/>
            <a:endParaRPr lang="en-US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46237" y="5450907"/>
            <a:ext cx="905741" cy="905741"/>
          </a:xfrm>
          <a:prstGeom prst="rect">
            <a:avLst/>
          </a:prstGeom>
          <a:noFill/>
        </p:spPr>
      </p:pic>
      <p:sp>
        <p:nvSpPr>
          <p:cNvPr id="27" name="Subtitle 2"/>
          <p:cNvSpPr txBox="1">
            <a:spLocks/>
          </p:cNvSpPr>
          <p:nvPr/>
        </p:nvSpPr>
        <p:spPr>
          <a:xfrm>
            <a:off x="3151978" y="5425337"/>
            <a:ext cx="6400800" cy="99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Science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200" baseline="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COMSATS University Islamabad</a:t>
            </a:r>
            <a:r>
              <a:rPr lang="en-US" sz="2200" dirty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Abbottabad Campus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782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30400" y="794327"/>
            <a:ext cx="8194971" cy="1459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30011" y="85174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 of the Presentation</a:t>
            </a:r>
          </a:p>
        </p:txBody>
      </p:sp>
      <p:sp>
        <p:nvSpPr>
          <p:cNvPr id="15" name="Slide Number Placeholder 3"/>
          <p:cNvSpPr txBox="1">
            <a:spLocks/>
          </p:cNvSpPr>
          <p:nvPr/>
        </p:nvSpPr>
        <p:spPr>
          <a:xfrm>
            <a:off x="6926011" y="692159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39645433-80CB-E128-60CA-40B949E33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411" y="2406795"/>
            <a:ext cx="70104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x-none" altLang="x-none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 / Platform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(Technical, Financial, Resource, Operational)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– Gantt Chart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for 1st Iteration (30%) 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x-none" altLang="x-none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96961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52202" y="-4280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52202" y="2164702"/>
            <a:ext cx="10613754" cy="44712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Problem: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Farmers in Pakistan rely on experience rather than data to decide which crops to grow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knowledge of soil parameters (pH, NPK, moisture) leads to wrong crop selection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causes poor irrigation decisions and reduced yield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loss due to crop failure is a major challenge for rural farmers</a:t>
            </a:r>
          </a:p>
          <a:p>
            <a:pPr algn="l"/>
            <a:endParaRPr lang="en-GB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87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DCC887-3A73-1E50-E5EB-A4F1592F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1D102038-C3A9-8C0B-8834-E69C3885ACCB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DC9B5F30-09A9-F859-7988-54970C96B1F4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6F09114-64BC-ED1C-3464-096C3002BBBE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66F245EB-490E-9710-8F82-479AF6C8202F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71451323-6D91-94BA-2DED-B404EC4DE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CFEAF99-784C-8B3A-EBC3-921FC1370D3E}"/>
              </a:ext>
            </a:extLst>
          </p:cNvPr>
          <p:cNvSpPr txBox="1">
            <a:spLocks/>
          </p:cNvSpPr>
          <p:nvPr/>
        </p:nvSpPr>
        <p:spPr>
          <a:xfrm>
            <a:off x="752202" y="-4280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492799-FCF9-23E1-A56E-4A36A05C1336}"/>
              </a:ext>
            </a:extLst>
          </p:cNvPr>
          <p:cNvSpPr txBox="1">
            <a:spLocks/>
          </p:cNvSpPr>
          <p:nvPr/>
        </p:nvSpPr>
        <p:spPr>
          <a:xfrm>
            <a:off x="752202" y="1261850"/>
            <a:ext cx="10613754" cy="5374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It Matters (Utilitarian Aspect):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Pakistan's economy is heavily dependent on agriculture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system can directly improve crop yield and farmer income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AI can replace guesswork with accurate, real-time recommendations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Automating irrigation saves water and reduces manual effort</a:t>
            </a:r>
          </a:p>
          <a:p>
            <a:pPr algn="l"/>
            <a:endParaRPr lang="en-GB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Gap: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either show sensor data </a:t>
            </a:r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predict crops - none integrate both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current solution combines real-time monitoring + AI recommendation + automatic control + mobile alerts in one platform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bridges this gap.</a:t>
            </a:r>
          </a:p>
          <a:p>
            <a:pPr algn="l"/>
            <a:endParaRPr lang="en-US" sz="1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35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779597" y="-7732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779597" y="1342907"/>
            <a:ext cx="10287000" cy="55749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</a:t>
            </a:r>
            <a:r>
              <a:rPr lang="en-GB" sz="1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AI and </a:t>
            </a:r>
            <a:r>
              <a:rPr lang="en-GB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intelligent crop suitability and monitoring system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farmers make data-driven agricultural decisions</a:t>
            </a:r>
          </a:p>
          <a:p>
            <a:pPr algn="l"/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sensors collect real-time soil and environmental data (pH, NPK, moisture, temperature, humidity)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</a:t>
            </a:r>
            <a:r>
              <a:rPr lang="en-GB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data and recommends the most suitable crop (wheat, rice, maize, cotton, tomato)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app displays live readings, smart alerts, and actionable recommendations</a:t>
            </a:r>
          </a:p>
          <a:p>
            <a:pPr algn="l"/>
            <a:r>
              <a:rPr lang="en-GB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endParaRPr lang="en-GB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crop yield and field health by combining </a:t>
            </a:r>
            <a:r>
              <a:rPr lang="en-GB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AI, and automation into one integrated platform.</a:t>
            </a:r>
          </a:p>
          <a:p>
            <a:pPr algn="l"/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78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35615" y="1637971"/>
            <a:ext cx="97997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to do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-based system for real-time soil and environmental monitoring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real-time soil parameters (pH, NPK, moisture, temperature, humidity, rain, light)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 AI model for crop recommendation based on soil and weather data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mobile application for live monitoring and alerts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data using Firebase cloud database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smart alerts for critical conditions (low moisture, high temperature, rain detected)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automatic irrigation control using sensor data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crops: Wheat, Rice, Maize, Cotton, Tomato</a:t>
            </a:r>
            <a:b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1035615" y="30060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169631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4073C2-3C2C-C27A-7863-49E5A87B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A6E47E3E-0290-E396-0686-DA79B9E88F42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7FD42DBB-9186-B5AE-C873-01B35073478D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8C583D1-BCDF-D8C8-94F0-098D0B9283B9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27CBD914-565E-F036-F5C5-5E84E9032084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9FDD2C1B-7505-29CC-3119-15ED343BA7D2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>
            <a:extLst>
              <a:ext uri="{FF2B5EF4-FFF2-40B4-BE49-F238E27FC236}">
                <a16:creationId xmlns:a16="http://schemas.microsoft.com/office/drawing/2014/main" id="{9B855E5A-3204-1C5C-815B-FECD34F81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362A227-AECB-6B32-63CD-60EB7FF993CA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F6CF75-1183-E816-4C62-FFB36C012BC7}"/>
              </a:ext>
            </a:extLst>
          </p:cNvPr>
          <p:cNvSpPr txBox="1"/>
          <p:nvPr/>
        </p:nvSpPr>
        <p:spPr>
          <a:xfrm>
            <a:off x="1035615" y="1637971"/>
            <a:ext cx="979978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not to do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x-none" altLang="x-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disease detection or pest identification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large-scale industrial or commercial farming deployment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x-none" altLang="x-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web-based dashboard (mobile app only)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x-none" altLang="x-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offline AI prediction (requires internet/cloud connection)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autonomous farming machinery (e.g., tractors/robots)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EB5171D-F7CB-4546-95B1-92AAE2F62B26}"/>
              </a:ext>
            </a:extLst>
          </p:cNvPr>
          <p:cNvSpPr txBox="1">
            <a:spLocks/>
          </p:cNvSpPr>
          <p:nvPr/>
        </p:nvSpPr>
        <p:spPr>
          <a:xfrm>
            <a:off x="1035615" y="30060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352754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989906" y="4922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039564" y="1995435"/>
            <a:ext cx="9835485" cy="46781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Soil &amp; Environmental Monitoring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reads pH, NPK, soil moisture, temperature, humidity, rain, and light (LDR) via </a:t>
            </a:r>
            <a:r>
              <a:rPr lang="en-GB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sensors</a:t>
            </a:r>
          </a:p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AI-Based Crop Recommendation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 model predicts the most suitable crop based on current soil and weather conditions</a:t>
            </a:r>
          </a:p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Smart Alerts &amp; Notifications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Sends real-time alerts for critical conditions — low moisture, high temperature, rain detected, nutrient deficiency</a:t>
            </a:r>
          </a:p>
          <a:p>
            <a:pPr algn="l"/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Mobile Application (Flutter)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sensor dashboard, crop recommendations, alerts, and historical data trends — all in one app</a:t>
            </a:r>
          </a:p>
          <a:p>
            <a:pPr algn="l"/>
            <a:endParaRPr lang="en-US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315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77432" y="2475384"/>
            <a:ext cx="8515092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Cloud Data Storage &amp; History (Firebase)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sensor readings stored in real-time, supports historical trend tracking and analysis</a:t>
            </a:r>
          </a:p>
          <a:p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Automatic Irrigation Control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Actuator-based system auto-triggers water supply when soil moisture drops below threshold</a:t>
            </a:r>
          </a:p>
          <a:p>
            <a:r>
              <a:rPr lang="en-GB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Plant Condition Reporting</a:t>
            </a:r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Generates comprehensive reports on field/plant status to support informed farmer decisions</a:t>
            </a:r>
          </a:p>
          <a:p>
            <a:endParaRPr lang="x-none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77432" y="966369"/>
            <a:ext cx="353975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965617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372919"/>
              </p:ext>
            </p:extLst>
          </p:nvPr>
        </p:nvGraphicFramePr>
        <p:xfrm>
          <a:off x="1617547" y="2670478"/>
          <a:ext cx="9198236" cy="2590800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{D7AC3CCA-C797-4891-BE02-D94E43425B78}</a:tableStyleId>
              </a:tblPr>
              <a:tblGrid>
                <a:gridCol w="3166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/ ESP8266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Soil moisture, pH, NPK, DHT11/DHT22, rain sensor, LDR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C++ (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Scikit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-learn /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TensorFlow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Flutter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/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Firebase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Code, 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77273" y="1011924"/>
            <a:ext cx="65578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Tools/Platform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274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60845" y="32354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60845" y="2005013"/>
            <a:ext cx="1047239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technologies (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AI, Mobile App, Cloud) are well-established and widely used.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ESP32/ESP8266 supports sensor integration and real-time data transmission.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Sensors (pH, NPK, moisture, temperature, humidity) are compatible and easy to interface.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model can be developed using Python with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-learn or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Firebase enables real-time database and cloud integration.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Flutter supports cross-platform mobile app development.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 between hardware, cloud, and mobile app is technically achievable. 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1757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60845" y="382121"/>
            <a:ext cx="7886700" cy="13486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983004" y="2243806"/>
            <a:ext cx="7886700" cy="4427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feasibility</a:t>
            </a:r>
          </a:p>
          <a:p>
            <a:pPr algn="l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low-cost components (ESP32, basic sensors)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tools (Python, Flutter,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IDE) → no license cost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(Firebase) has free tier for development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Estimated prototype cost is affordable for students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project is cost-effective and economically viable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5919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11530" y="268772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11530" y="1994880"/>
            <a:ext cx="98532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feasibility</a:t>
            </a:r>
          </a:p>
          <a:p>
            <a:pPr algn="l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required hardware components (ESP32, sensors, actuators) are easily available.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Necessary software tools (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IDE, Python, Flutter, Firebase) are accessible and mostly free.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project can be developed using standard computers/laptops.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 is available for cloud integration and data storage.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have basic knowledge of programming and development tools.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Sufficient time and effort can be allocated to complete the project. 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 datasets for training the AI model are available. </a:t>
            </a:r>
          </a:p>
          <a:p>
            <a:pPr algn="l"/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011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167221" y="41024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167221" y="2069810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algn="l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Easy-to-use mobile app interface for farmers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 improve decision making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monitoring effort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recommendations for crops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minimal training for users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agricultural environments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productivity</a:t>
            </a:r>
          </a:p>
          <a:p>
            <a:pPr algn="l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95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4370" y="-81110"/>
            <a:ext cx="7546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(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Chart)</a:t>
            </a:r>
          </a:p>
        </p:txBody>
      </p:sp>
    </p:spTree>
    <p:extLst>
      <p:ext uri="{BB962C8B-B14F-4D97-AF65-F5344CB8AC3E}">
        <p14:creationId xmlns:p14="http://schemas.microsoft.com/office/powerpoint/2010/main" val="1779299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37491" y="60914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for 1st Iteration (or 30%)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633946" y="2397878"/>
            <a:ext cx="7467600" cy="381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SRS Documentation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SDD Documentation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 Selection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Basic Development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Basic Integration</a:t>
            </a: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741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590" y="710912"/>
            <a:ext cx="10843791" cy="60105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glow rad="228600">
              <a:schemeClr val="tx1">
                <a:lumMod val="50000"/>
                <a:lumOff val="50000"/>
                <a:alpha val="40000"/>
              </a:schemeClr>
            </a:glow>
            <a:softEdge rad="31750"/>
          </a:effectLst>
        </p:spPr>
      </p:pic>
      <p:sp>
        <p:nvSpPr>
          <p:cNvPr id="4" name="TextBox 3"/>
          <p:cNvSpPr txBox="1"/>
          <p:nvPr/>
        </p:nvSpPr>
        <p:spPr>
          <a:xfrm>
            <a:off x="3648364" y="-147531"/>
            <a:ext cx="58096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Diagram</a:t>
            </a:r>
          </a:p>
        </p:txBody>
      </p:sp>
    </p:spTree>
    <p:extLst>
      <p:ext uri="{BB962C8B-B14F-4D97-AF65-F5344CB8AC3E}">
        <p14:creationId xmlns:p14="http://schemas.microsoft.com/office/powerpoint/2010/main" val="3182263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362891" y="78717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362891" y="2824508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SmartCrop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combines 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AI to support smart farming decisions.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monitors soil conditions in real time and recommends suitable crops.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water control improves irrigation efficiency.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Alerts and reports help farmers manage their fields easily.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a simple, smart, and cost-effective farming solution.</a:t>
            </a: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6705600" y="65087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591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  <a:lumOff val="5000"/>
              </a:schemeClr>
            </a:gs>
            <a:gs pos="97000">
              <a:schemeClr val="tx1">
                <a:lumMod val="65000"/>
                <a:lumOff val="35000"/>
              </a:schemeClr>
            </a:gs>
          </a:gsLst>
          <a:lin ang="135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33">
            <a:extLst>
              <a:ext uri="{FF2B5EF4-FFF2-40B4-BE49-F238E27FC236}">
                <a16:creationId xmlns:a16="http://schemas.microsoft.com/office/drawing/2014/main" id="{CBC42A96-07A4-DC48-18FB-B9E1A778DC4D}"/>
              </a:ext>
            </a:extLst>
          </p:cNvPr>
          <p:cNvSpPr/>
          <p:nvPr/>
        </p:nvSpPr>
        <p:spPr>
          <a:xfrm>
            <a:off x="-2090057" y="-235131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同心圆 43">
            <a:extLst>
              <a:ext uri="{FF2B5EF4-FFF2-40B4-BE49-F238E27FC236}">
                <a16:creationId xmlns:a16="http://schemas.microsoft.com/office/drawing/2014/main" id="{A12B0597-E4B2-8662-3BBB-98E1A5F1589A}"/>
              </a:ext>
            </a:extLst>
          </p:cNvPr>
          <p:cNvSpPr/>
          <p:nvPr/>
        </p:nvSpPr>
        <p:spPr>
          <a:xfrm>
            <a:off x="-1928406" y="-2189664"/>
            <a:ext cx="4875714" cy="4875714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390663B2-3746-F621-69E1-534CCF4718BA}"/>
              </a:ext>
            </a:extLst>
          </p:cNvPr>
          <p:cNvSpPr/>
          <p:nvPr/>
        </p:nvSpPr>
        <p:spPr>
          <a:xfrm>
            <a:off x="9592491" y="5141895"/>
            <a:ext cx="5199017" cy="5199017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同心圆 41">
            <a:extLst>
              <a:ext uri="{FF2B5EF4-FFF2-40B4-BE49-F238E27FC236}">
                <a16:creationId xmlns:a16="http://schemas.microsoft.com/office/drawing/2014/main" id="{D4DA10E3-4A54-1AFE-6750-BE15554071D1}"/>
              </a:ext>
            </a:extLst>
          </p:cNvPr>
          <p:cNvSpPr/>
          <p:nvPr/>
        </p:nvSpPr>
        <p:spPr>
          <a:xfrm>
            <a:off x="9009197" y="-3239146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43" name="同心圆 42">
            <a:extLst>
              <a:ext uri="{FF2B5EF4-FFF2-40B4-BE49-F238E27FC236}">
                <a16:creationId xmlns:a16="http://schemas.microsoft.com/office/drawing/2014/main" id="{29C3CB14-AEEE-8C98-AAD9-80E0DD200A38}"/>
              </a:ext>
            </a:extLst>
          </p:cNvPr>
          <p:cNvSpPr/>
          <p:nvPr/>
        </p:nvSpPr>
        <p:spPr>
          <a:xfrm>
            <a:off x="5150415" y="5135855"/>
            <a:ext cx="4974956" cy="4974956"/>
          </a:xfrm>
          <a:prstGeom prst="donut">
            <a:avLst/>
          </a:prstGeom>
          <a:solidFill>
            <a:schemeClr val="bg1">
              <a:alpha val="844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2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35091" y="6161986"/>
            <a:ext cx="2057400" cy="365125"/>
          </a:xfrm>
        </p:spPr>
        <p:txBody>
          <a:bodyPr/>
          <a:lstStyle/>
          <a:p>
            <a:fld id="{DC2A8C5E-5ACC-4DAB-B41C-5718F8C58B6D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59564" y="2967014"/>
            <a:ext cx="3574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4156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">
      <a:majorFont>
        <a:latin typeface=" OPPOSans-H "/>
        <a:ea typeface=" OPPOSans-H "/>
        <a:cs typeface=""/>
      </a:majorFont>
      <a:minorFont>
        <a:latin typeface=" OPPOSans-R "/>
        <a:ea typeface=" OPPOSans-R 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1315</TotalTime>
  <Words>1054</Words>
  <Application>Microsoft Macintosh PowerPoint</Application>
  <PresentationFormat>Widescreen</PresentationFormat>
  <Paragraphs>169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 OPPOSans-H </vt:lpstr>
      <vt:lpstr> OPPOSans-R </vt:lpstr>
      <vt:lpstr>Arial</vt:lpstr>
      <vt:lpstr>Times New Roman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a57354</dc:creator>
  <cp:lastModifiedBy>SP23-BCS-047(Zulkifl Ahmad)</cp:lastModifiedBy>
  <cp:revision>30</cp:revision>
  <dcterms:created xsi:type="dcterms:W3CDTF">2026-02-12T12:39:35Z</dcterms:created>
  <dcterms:modified xsi:type="dcterms:W3CDTF">2026-05-11T17:56:07Z</dcterms:modified>
</cp:coreProperties>
</file>